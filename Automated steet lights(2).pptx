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</p:sldIdLst>
  <p:sldSz cx="12192000" cy="6858000"/>
  <p:notesSz cx="6858000" cy="12192000"/>
  <p:embeddedFontLst>
    <p:embeddedFont>
      <p:font typeface="Noto Sans" panose="020B0502040504020204" pitchFamily="34" charset="0"/>
      <p:regular r:id="rId12"/>
      <p:bold r:id="rId13"/>
    </p:embeddedFont>
    <p:embeddedFont>
      <p:font typeface="Noto Sans Bold" panose="020B0802040504020204" charset="0"/>
      <p:regular r:id="rId14"/>
    </p:embeddedFont>
    <p:embeddedFont>
      <p:font typeface="Sora Medium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0679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42903-925E-AA14-06E2-1A0836E1D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56DDC1-7A36-B853-D2C0-5586FB15E8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62B377-63E2-747A-6999-7C9ED06A1E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6270AB-6048-1D02-8326-BCA544F0ED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5530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26262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841302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Design &amp; Simulation of an Automatic Street Light Control System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3896717"/>
            <a:ext cx="6296860" cy="1119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00D9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Energy-Efficient Smart City Infrastructure using Combinational Digital Logic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Digital Design &amp; Computer Architecture Lab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26262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66552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Problem Statement &amp; Project Goal</a:t>
            </a:r>
            <a:endParaRPr lang="en-US" sz="3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343944"/>
            <a:ext cx="2917851" cy="272762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549364" y="2558355"/>
            <a:ext cx="238744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006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The Problem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5549364" y="3042642"/>
            <a:ext cx="238744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Traditional street lights run at </a:t>
            </a:r>
            <a:r>
              <a:rPr lang="en-US" sz="14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100% brightness all night</a:t>
            </a: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causing massive electrical energy waste and inflated municipal costs.</a:t>
            </a:r>
            <a:endParaRPr lang="en-US" sz="14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18719" y="2343944"/>
            <a:ext cx="2917851" cy="363487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934723" y="2558355"/>
            <a:ext cx="238744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D9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The Solution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8934723" y="3042642"/>
            <a:ext cx="2387441" cy="2721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smart, sensor-driven control system using </a:t>
            </a:r>
            <a:r>
              <a:rPr lang="en-US" sz="14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combinational digital logic gates</a:t>
            </a: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that toggles between </a:t>
            </a:r>
            <a:r>
              <a:rPr lang="en-US" sz="14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Off</a:t>
            </a: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(Day), </a:t>
            </a:r>
            <a:r>
              <a:rPr lang="en-US" sz="14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Dim/30% Standby</a:t>
            </a: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(Night Idle), and </a:t>
            </a:r>
            <a:r>
              <a:rPr lang="en-US" sz="14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Full/100% Brightness</a:t>
            </a: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(Night Motion / Maintenance Override).</a:t>
            </a:r>
            <a:endParaRPr lang="en-US" sz="14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AC3EFD-3725-967C-0647-5FA1AC4FF6E3}"/>
              </a:ext>
            </a:extLst>
          </p:cNvPr>
          <p:cNvSpPr/>
          <p:nvPr/>
        </p:nvSpPr>
        <p:spPr>
          <a:xfrm>
            <a:off x="10889358" y="6352947"/>
            <a:ext cx="1281723" cy="42593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96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System Architecture &amp; Sensor Inputs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633201" y="1796355"/>
            <a:ext cx="1372955" cy="287139"/>
          </a:xfrm>
          <a:prstGeom prst="roundRect">
            <a:avLst>
              <a:gd name="adj" fmla="val 7899"/>
            </a:avLst>
          </a:prstGeom>
          <a:solidFill>
            <a:srgbClr val="00184D"/>
          </a:solidFill>
          <a:ln/>
        </p:spPr>
      </p:sp>
      <p:sp>
        <p:nvSpPr>
          <p:cNvPr id="5" name="Text 2"/>
          <p:cNvSpPr/>
          <p:nvPr/>
        </p:nvSpPr>
        <p:spPr>
          <a:xfrm>
            <a:off x="4746605" y="1853009"/>
            <a:ext cx="175573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DIGITAL INPUTS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633201" y="2296120"/>
            <a:ext cx="2175019" cy="1762423"/>
          </a:xfrm>
          <a:prstGeom prst="roundRect">
            <a:avLst>
              <a:gd name="adj" fmla="val 1609"/>
            </a:avLst>
          </a:prstGeom>
          <a:solidFill>
            <a:srgbClr val="26262B"/>
          </a:solidFill>
          <a:ln/>
        </p:spPr>
      </p:sp>
      <p:sp>
        <p:nvSpPr>
          <p:cNvPr id="7" name="Text 4"/>
          <p:cNvSpPr/>
          <p:nvPr/>
        </p:nvSpPr>
        <p:spPr>
          <a:xfrm>
            <a:off x="4822208" y="2485132"/>
            <a:ext cx="179700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L — LDR Sensor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4822208" y="3264694"/>
            <a:ext cx="17970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L=1 Daylight  |  L=0 Darkness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997227" y="2296120"/>
            <a:ext cx="2175118" cy="1762423"/>
          </a:xfrm>
          <a:prstGeom prst="roundRect">
            <a:avLst>
              <a:gd name="adj" fmla="val 1609"/>
            </a:avLst>
          </a:prstGeom>
          <a:solidFill>
            <a:srgbClr val="26262B"/>
          </a:solidFill>
          <a:ln/>
        </p:spPr>
      </p:sp>
      <p:sp>
        <p:nvSpPr>
          <p:cNvPr id="10" name="Text 7"/>
          <p:cNvSpPr/>
          <p:nvPr/>
        </p:nvSpPr>
        <p:spPr>
          <a:xfrm>
            <a:off x="7186234" y="2485132"/>
            <a:ext cx="179710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 — PIR Motion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7186234" y="3264694"/>
            <a:ext cx="179710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M=1 Motion  |  M=0 Empty Road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9361353" y="2296120"/>
            <a:ext cx="2175118" cy="1762423"/>
          </a:xfrm>
          <a:prstGeom prst="roundRect">
            <a:avLst>
              <a:gd name="adj" fmla="val 1609"/>
            </a:avLst>
          </a:prstGeom>
          <a:solidFill>
            <a:srgbClr val="26262B"/>
          </a:solidFill>
          <a:ln/>
        </p:spPr>
      </p:sp>
      <p:sp>
        <p:nvSpPr>
          <p:cNvPr id="13" name="Text 10"/>
          <p:cNvSpPr/>
          <p:nvPr/>
        </p:nvSpPr>
        <p:spPr>
          <a:xfrm>
            <a:off x="9550360" y="2485132"/>
            <a:ext cx="17971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O — Override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9550360" y="2969419"/>
            <a:ext cx="179710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O=1 Maintenance  |  O=0 Auto Mode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4633201" y="4271169"/>
            <a:ext cx="1647982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97B8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46605" y="4327823"/>
            <a:ext cx="203075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97B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CONTROL OUTPUTS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633201" y="4770934"/>
            <a:ext cx="6903269" cy="1164729"/>
          </a:xfrm>
          <a:prstGeom prst="roundRect">
            <a:avLst>
              <a:gd name="adj" fmla="val 2434"/>
            </a:avLst>
          </a:prstGeom>
          <a:solidFill>
            <a:srgbClr val="26262B"/>
          </a:solidFill>
          <a:ln/>
        </p:spPr>
      </p:sp>
      <p:sp>
        <p:nvSpPr>
          <p:cNvPr id="18" name="Shape 15"/>
          <p:cNvSpPr/>
          <p:nvPr/>
        </p:nvSpPr>
        <p:spPr>
          <a:xfrm>
            <a:off x="4633201" y="4770934"/>
            <a:ext cx="3451635" cy="1164729"/>
          </a:xfrm>
          <a:custGeom>
            <a:avLst/>
            <a:gdLst/>
            <a:ahLst/>
            <a:cxnLst/>
            <a:rect l="l" t="t" r="r" b="b"/>
            <a:pathLst>
              <a:path w="3451635" h="1164729">
                <a:moveTo>
                  <a:pt x="23627" y="0"/>
                </a:moveTo>
                <a:lnTo>
                  <a:pt x="3451635" y="0"/>
                </a:lnTo>
                <a:lnTo>
                  <a:pt x="3451635" y="1164729"/>
                </a:lnTo>
                <a:lnTo>
                  <a:pt x="23627" y="1164729"/>
                </a:lnTo>
                <a:arcTo wR="23627" hR="23628" stAng="5400000" swAng="5400000"/>
                <a:lnTo>
                  <a:pt x="0" y="23628"/>
                </a:lnTo>
                <a:arcTo wR="23627" hR="23628" stAng="10800000" swAng="5400000"/>
                <a:close/>
              </a:path>
            </a:pathLst>
          </a:custGeom>
          <a:solidFill>
            <a:srgbClr val="26262B"/>
          </a:solidFill>
          <a:ln/>
        </p:spPr>
      </p:sp>
      <p:sp>
        <p:nvSpPr>
          <p:cNvPr id="19" name="Text 16"/>
          <p:cNvSpPr/>
          <p:nvPr/>
        </p:nvSpPr>
        <p:spPr>
          <a:xfrm>
            <a:off x="4822208" y="4959945"/>
            <a:ext cx="307362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S1 — Full Light</a:t>
            </a:r>
            <a:endParaRPr lang="en-US" sz="1850" dirty="0"/>
          </a:p>
        </p:txBody>
      </p:sp>
      <p:sp>
        <p:nvSpPr>
          <p:cNvPr id="20" name="Text 17"/>
          <p:cNvSpPr/>
          <p:nvPr/>
        </p:nvSpPr>
        <p:spPr>
          <a:xfrm>
            <a:off x="4822208" y="5444232"/>
            <a:ext cx="307362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100% Power High-Brightness LED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8084836" y="4770934"/>
            <a:ext cx="3451635" cy="1164729"/>
          </a:xfrm>
          <a:custGeom>
            <a:avLst/>
            <a:gdLst/>
            <a:ahLst/>
            <a:cxnLst/>
            <a:rect l="l" t="t" r="r" b="b"/>
            <a:pathLst>
              <a:path w="3451635" h="1164729">
                <a:moveTo>
                  <a:pt x="0" y="0"/>
                </a:moveTo>
                <a:lnTo>
                  <a:pt x="3428007" y="0"/>
                </a:lnTo>
                <a:arcTo wR="23627" hR="23628" stAng="16200000" swAng="5400000"/>
                <a:lnTo>
                  <a:pt x="3451635" y="1141101"/>
                </a:lnTo>
                <a:arcTo wR="23627" hR="23628" stAng="0" swAng="5400000"/>
                <a:lnTo>
                  <a:pt x="0" y="1164729"/>
                </a:lnTo>
                <a:lnTo>
                  <a:pt x="0" y="0"/>
                </a:lnTo>
                <a:close/>
              </a:path>
            </a:pathLst>
          </a:custGeom>
          <a:solidFill>
            <a:srgbClr val="26262B"/>
          </a:solidFill>
          <a:ln/>
        </p:spPr>
      </p:sp>
      <p:sp>
        <p:nvSpPr>
          <p:cNvPr id="22" name="Shape 19"/>
          <p:cNvSpPr/>
          <p:nvPr/>
        </p:nvSpPr>
        <p:spPr>
          <a:xfrm>
            <a:off x="8084836" y="4770934"/>
            <a:ext cx="25399" cy="1164729"/>
          </a:xfrm>
          <a:prstGeom prst="roundRect">
            <a:avLst>
              <a:gd name="adj" fmla="val 50001"/>
            </a:avLst>
          </a:prstGeom>
          <a:solidFill>
            <a:srgbClr val="3F3F44"/>
          </a:solidFill>
          <a:ln/>
        </p:spPr>
      </p:sp>
      <p:sp>
        <p:nvSpPr>
          <p:cNvPr id="23" name="Text 20"/>
          <p:cNvSpPr/>
          <p:nvPr/>
        </p:nvSpPr>
        <p:spPr>
          <a:xfrm>
            <a:off x="8273843" y="4959945"/>
            <a:ext cx="307362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S0 — Dim Light</a:t>
            </a:r>
            <a:endParaRPr lang="en-US" sz="1850" dirty="0"/>
          </a:p>
        </p:txBody>
      </p:sp>
      <p:sp>
        <p:nvSpPr>
          <p:cNvPr id="24" name="Text 21"/>
          <p:cNvSpPr/>
          <p:nvPr/>
        </p:nvSpPr>
        <p:spPr>
          <a:xfrm>
            <a:off x="8273843" y="5444232"/>
            <a:ext cx="307362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30% Power Energy-Saver LED</a:t>
            </a:r>
            <a:endParaRPr lang="en-US" sz="145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63E42F7-FC82-BFEA-E768-1275C8888C2E}"/>
              </a:ext>
            </a:extLst>
          </p:cNvPr>
          <p:cNvSpPr/>
          <p:nvPr/>
        </p:nvSpPr>
        <p:spPr>
          <a:xfrm>
            <a:off x="10889358" y="6352947"/>
            <a:ext cx="1281723" cy="42593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175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Truth Table &amp; System States</a:t>
            </a:r>
            <a:endParaRPr lang="en-US" sz="3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5666320"/>
              </p:ext>
            </p:extLst>
          </p:nvPr>
        </p:nvGraphicFramePr>
        <p:xfrm>
          <a:off x="661475" y="1660426"/>
          <a:ext cx="10868746" cy="4492908"/>
        </p:xfrm>
        <a:graphic>
          <a:graphicData uri="http://schemas.openxmlformats.org/drawingml/2006/table">
            <a:tbl>
              <a:tblPr/>
              <a:tblGrid>
                <a:gridCol w="15526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26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26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26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26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26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26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4509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latin typeface="Noto Sans" charset="0"/>
                          <a:ea typeface="Noto Sans" charset="0"/>
                          <a:cs typeface="Noto Sans" charset="0"/>
                        </a:rPr>
                        <a:t>condition</a:t>
                      </a: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0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L</a:t>
                      </a:r>
                      <a:endParaRPr lang="en-US" sz="14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0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M</a:t>
                      </a:r>
                      <a:endParaRPr lang="en-US" sz="14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0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O</a:t>
                      </a:r>
                      <a:endParaRPr lang="en-US" sz="14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0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S1</a:t>
                      </a:r>
                      <a:endParaRPr lang="en-US" sz="14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0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S0</a:t>
                      </a:r>
                      <a:endParaRPr lang="en-US" sz="14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00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State</a:t>
                      </a:r>
                      <a:endParaRPr lang="en-US" sz="14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2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Daytime</a:t>
                      </a:r>
                      <a:endParaRPr lang="en-US" sz="14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1</a:t>
                      </a:r>
                      <a:endParaRPr lang="en-US" sz="14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0</a:t>
                      </a:r>
                      <a:endParaRPr lang="en-US" sz="14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0</a:t>
                      </a:r>
                      <a:endParaRPr lang="en-US" sz="14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0</a:t>
                      </a:r>
                      <a:endParaRPr lang="en-US" sz="14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0</a:t>
                      </a:r>
                      <a:endParaRPr lang="en-US" sz="14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Off</a:t>
                      </a:r>
                      <a:endParaRPr lang="en-US" sz="14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0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Daytime Traffic</a:t>
                      </a:r>
                      <a:endParaRPr lang="en-US" sz="14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1</a:t>
                      </a:r>
                      <a:endParaRPr lang="en-US" sz="14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1</a:t>
                      </a:r>
                      <a:endParaRPr lang="en-US" sz="14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0</a:t>
                      </a:r>
                      <a:endParaRPr lang="en-US" sz="14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0</a:t>
                      </a:r>
                      <a:endParaRPr lang="en-US" sz="14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0</a:t>
                      </a:r>
                      <a:endParaRPr lang="en-US" sz="14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Off</a:t>
                      </a:r>
                      <a:endParaRPr lang="en-US" sz="14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0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Night Idle</a:t>
                      </a:r>
                      <a:endParaRPr lang="en-US" sz="14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0</a:t>
                      </a:r>
                      <a:endParaRPr lang="en-US" sz="14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0</a:t>
                      </a:r>
                      <a:endParaRPr lang="en-US" sz="14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0</a:t>
                      </a:r>
                      <a:endParaRPr lang="en-US" sz="14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0</a:t>
                      </a:r>
                      <a:endParaRPr lang="en-US" sz="14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1</a:t>
                      </a:r>
                      <a:endParaRPr lang="en-US" sz="14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00D9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30% Dim Standby</a:t>
                      </a:r>
                      <a:endParaRPr lang="en-US" sz="14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0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Night Active</a:t>
                      </a:r>
                      <a:endParaRPr lang="en-US" sz="14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0</a:t>
                      </a:r>
                      <a:endParaRPr lang="en-US" sz="14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1</a:t>
                      </a:r>
                      <a:endParaRPr lang="en-US" sz="14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0</a:t>
                      </a:r>
                      <a:endParaRPr lang="en-US" sz="14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1</a:t>
                      </a:r>
                      <a:endParaRPr lang="en-US" sz="14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0</a:t>
                      </a:r>
                      <a:endParaRPr lang="en-US" sz="14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FF006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100% Full Brightness</a:t>
                      </a:r>
                      <a:endParaRPr lang="en-US" sz="14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750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Maintenance Mode</a:t>
                      </a:r>
                      <a:endParaRPr lang="en-US" sz="14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X</a:t>
                      </a:r>
                      <a:endParaRPr lang="en-US" sz="14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X</a:t>
                      </a:r>
                      <a:endParaRPr lang="en-US" sz="14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1</a:t>
                      </a:r>
                      <a:endParaRPr lang="en-US" sz="14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1</a:t>
                      </a:r>
                      <a:endParaRPr lang="en-US" sz="14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E0D6DE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0</a:t>
                      </a:r>
                      <a:endParaRPr lang="en-US" sz="14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9D00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Forced Full Power</a:t>
                      </a:r>
                      <a:endParaRPr lang="en-US" sz="145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3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54BD7FC8-1178-16D7-1635-F30E4B96B775}"/>
              </a:ext>
            </a:extLst>
          </p:cNvPr>
          <p:cNvSpPr/>
          <p:nvPr/>
        </p:nvSpPr>
        <p:spPr>
          <a:xfrm>
            <a:off x="10889358" y="6352947"/>
            <a:ext cx="1281723" cy="42593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59E03-96BC-F6EA-A965-37A8F1B24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4182C96-BF85-E979-2B3E-E198ADF80A11}"/>
              </a:ext>
            </a:extLst>
          </p:cNvPr>
          <p:cNvSpPr/>
          <p:nvPr/>
        </p:nvSpPr>
        <p:spPr>
          <a:xfrm>
            <a:off x="747445" y="67230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 err="1">
                <a:solidFill>
                  <a:srgbClr val="97B8FF"/>
                </a:solidFill>
                <a:latin typeface="Sora Medium" pitchFamily="34" charset="0"/>
                <a:cs typeface="Sora Medium" pitchFamily="34" charset="-120"/>
              </a:rPr>
              <a:t>Logism</a:t>
            </a:r>
            <a:r>
              <a:rPr lang="en-US" sz="3700" dirty="0">
                <a:solidFill>
                  <a:srgbClr val="97B8FF"/>
                </a:solidFill>
                <a:latin typeface="Sora Medium" pitchFamily="34" charset="0"/>
                <a:cs typeface="Sora Medium" pitchFamily="34" charset="-120"/>
              </a:rPr>
              <a:t> circuit</a:t>
            </a:r>
            <a:endParaRPr lang="en-US" sz="37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A6EFF0-C521-EFFD-97E1-F6A8721F906B}"/>
              </a:ext>
            </a:extLst>
          </p:cNvPr>
          <p:cNvSpPr/>
          <p:nvPr/>
        </p:nvSpPr>
        <p:spPr>
          <a:xfrm>
            <a:off x="10889358" y="6352947"/>
            <a:ext cx="1281723" cy="42593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E11097-7F5A-AA30-4D10-115EAD2C0B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445" y="1551027"/>
            <a:ext cx="10326956" cy="5014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242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524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Boolean Logic Derivation &amp; Equations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51992"/>
            <a:ext cx="3504219" cy="350430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633201" y="1959372"/>
            <a:ext cx="1556703" cy="287139"/>
          </a:xfrm>
          <a:prstGeom prst="roundRect">
            <a:avLst>
              <a:gd name="adj" fmla="val 7899"/>
            </a:avLst>
          </a:prstGeom>
          <a:solidFill>
            <a:srgbClr val="00184D"/>
          </a:solidFill>
          <a:ln/>
        </p:spPr>
      </p:sp>
      <p:sp>
        <p:nvSpPr>
          <p:cNvPr id="5" name="Text 2"/>
          <p:cNvSpPr/>
          <p:nvPr/>
        </p:nvSpPr>
        <p:spPr>
          <a:xfrm>
            <a:off x="4746605" y="2016026"/>
            <a:ext cx="193948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SIGNAL NOTATION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633201" y="2459137"/>
            <a:ext cx="1712572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97B8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746605" y="2515791"/>
            <a:ext cx="209534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97B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OUTPUT EQUATIONS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916662" y="3128963"/>
            <a:ext cx="6619809" cy="774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00D9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S0 (Dim Light)</a:t>
            </a: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= L̄ AND M̄ AND Ō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006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S1 (Full Light)</a:t>
            </a: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= (L̄ AND M) OR O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633201" y="2958902"/>
            <a:ext cx="25399" cy="1115020"/>
          </a:xfrm>
          <a:prstGeom prst="roundRect">
            <a:avLst>
              <a:gd name="adj" fmla="val 50001"/>
            </a:avLst>
          </a:prstGeom>
          <a:solidFill>
            <a:srgbClr val="97B8FF"/>
          </a:solidFill>
          <a:ln/>
        </p:spPr>
      </p:sp>
      <p:sp>
        <p:nvSpPr>
          <p:cNvPr id="10" name="Text 7"/>
          <p:cNvSpPr/>
          <p:nvPr/>
        </p:nvSpPr>
        <p:spPr>
          <a:xfrm>
            <a:off x="4633201" y="4286548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Using AND, OR, and NOT gates keeps chip count minimal for </a:t>
            </a:r>
            <a:r>
              <a:rPr lang="en-US" sz="14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fast response time</a:t>
            </a: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and </a:t>
            </a:r>
            <a:r>
              <a:rPr lang="en-US" sz="14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low circuit cost</a:t>
            </a: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14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6075" y="5556151"/>
            <a:ext cx="3490825" cy="76190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01281" y="5581551"/>
            <a:ext cx="32256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Night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901281" y="5990233"/>
            <a:ext cx="32256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NOT(L) = </a:t>
            </a:r>
            <a:r>
              <a:rPr lang="en-US" sz="14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L̄</a:t>
            </a:r>
            <a:endParaRPr lang="en-US" sz="14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7735" y="5556151"/>
            <a:ext cx="3490825" cy="76190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602940" y="5581551"/>
            <a:ext cx="32256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No Motion</a:t>
            </a:r>
            <a:endParaRPr lang="en-US" sz="1850" dirty="0"/>
          </a:p>
        </p:txBody>
      </p:sp>
      <p:sp>
        <p:nvSpPr>
          <p:cNvPr id="16" name="Text 11"/>
          <p:cNvSpPr/>
          <p:nvPr/>
        </p:nvSpPr>
        <p:spPr>
          <a:xfrm>
            <a:off x="4602940" y="5990233"/>
            <a:ext cx="32256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NOT(M) = </a:t>
            </a:r>
            <a:r>
              <a:rPr lang="en-US" sz="14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M̄</a:t>
            </a:r>
            <a:endParaRPr lang="en-US" sz="14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39395" y="5556151"/>
            <a:ext cx="3490825" cy="76190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04600" y="5581551"/>
            <a:ext cx="32256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No Override</a:t>
            </a:r>
            <a:endParaRPr lang="en-US" sz="1850" dirty="0"/>
          </a:p>
        </p:txBody>
      </p:sp>
      <p:sp>
        <p:nvSpPr>
          <p:cNvPr id="19" name="Text 13"/>
          <p:cNvSpPr/>
          <p:nvPr/>
        </p:nvSpPr>
        <p:spPr>
          <a:xfrm>
            <a:off x="8304600" y="5990233"/>
            <a:ext cx="32256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NOT(O) = </a:t>
            </a:r>
            <a:r>
              <a:rPr lang="en-US" sz="14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Ō</a:t>
            </a:r>
            <a:endParaRPr lang="en-US" sz="14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D6949E-B841-4BF2-B453-3D6482BEDBF7}"/>
              </a:ext>
            </a:extLst>
          </p:cNvPr>
          <p:cNvSpPr/>
          <p:nvPr/>
        </p:nvSpPr>
        <p:spPr>
          <a:xfrm>
            <a:off x="10889358" y="6352947"/>
            <a:ext cx="1281723" cy="42593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26262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2775" y="504924"/>
            <a:ext cx="4385855" cy="58480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788789"/>
            <a:ext cx="6296860" cy="1162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Logisim Circuit Schematic &amp; Implementation</a:t>
            </a:r>
            <a:endParaRPr lang="en-US" sz="36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2226370"/>
            <a:ext cx="930252" cy="111640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774880" y="2412405"/>
            <a:ext cx="518345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Input Pins &amp; Inverters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1774880" y="2812951"/>
            <a:ext cx="518345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Signal processing for L, M, O using NOT gates</a:t>
            </a:r>
            <a:endParaRPr lang="en-US" sz="14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3342779"/>
            <a:ext cx="930252" cy="136316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774880" y="3528814"/>
            <a:ext cx="518345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Logic Gate Array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1774880" y="3929360"/>
            <a:ext cx="518345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2-input AND gates for state detection + OR gate for override prioritization</a:t>
            </a:r>
            <a:endParaRPr lang="en-US" sz="14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4705945"/>
            <a:ext cx="930252" cy="136316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774880" y="4891980"/>
            <a:ext cx="518345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Output Pins &amp; LEDs</a:t>
            </a:r>
            <a:endParaRPr lang="en-US" sz="1800" dirty="0"/>
          </a:p>
        </p:txBody>
      </p:sp>
      <p:sp>
        <p:nvSpPr>
          <p:cNvPr id="13" name="Text 7"/>
          <p:cNvSpPr/>
          <p:nvPr/>
        </p:nvSpPr>
        <p:spPr>
          <a:xfrm>
            <a:off x="1774880" y="5292527"/>
            <a:ext cx="518345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Driving S1 (Full Light) and S0 (Dim Light) with live Poke Tool simulation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22823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Simulation Results &amp; Performance Metrics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376" y="518098"/>
            <a:ext cx="10868745" cy="60865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7096423"/>
            <a:ext cx="3583493" cy="311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0%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661475" y="7490916"/>
            <a:ext cx="358349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Day Energy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61475" y="7666831"/>
            <a:ext cx="358349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Zero consumption during daylight hours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304002" y="7096423"/>
            <a:ext cx="3583592" cy="311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~70%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4304002" y="7490916"/>
            <a:ext cx="358359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Night Savings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304002" y="7666831"/>
            <a:ext cx="3583592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Energy saved vs traditional lighting in idle state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7946628" y="7096423"/>
            <a:ext cx="3583493" cy="311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&lt;10ms</a:t>
            </a:r>
            <a:endParaRPr lang="en-US" sz="2450" dirty="0"/>
          </a:p>
        </p:txBody>
      </p:sp>
      <p:sp>
        <p:nvSpPr>
          <p:cNvPr id="11" name="Text 8"/>
          <p:cNvSpPr/>
          <p:nvPr/>
        </p:nvSpPr>
        <p:spPr>
          <a:xfrm>
            <a:off x="7946628" y="7490916"/>
            <a:ext cx="358349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Response Time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946628" y="7666831"/>
            <a:ext cx="358349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Instantaneous latency on motion detection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661475" y="7833320"/>
            <a:ext cx="10868745" cy="250329"/>
          </a:xfrm>
          <a:prstGeom prst="roundRect">
            <a:avLst>
              <a:gd name="adj" fmla="val 5663"/>
            </a:avLst>
          </a:prstGeom>
          <a:solidFill>
            <a:srgbClr val="183A13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929" y="7904163"/>
            <a:ext cx="118067" cy="94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68450" y="7904163"/>
            <a:ext cx="1107690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Reduces carbon footprint &amp; extends LED fixture lifespan. Automatic maintenance handling — zero manual intervention required.</a:t>
            </a:r>
            <a:endParaRPr lang="en-US" sz="7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EBFC8C-2761-689C-A4B1-8EC8BB2F99F9}"/>
              </a:ext>
            </a:extLst>
          </p:cNvPr>
          <p:cNvSpPr/>
          <p:nvPr/>
        </p:nvSpPr>
        <p:spPr>
          <a:xfrm>
            <a:off x="10889358" y="6352947"/>
            <a:ext cx="1281723" cy="42593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26262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24" y="495201"/>
            <a:ext cx="4400539" cy="58675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32705"/>
            <a:ext cx="6296860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Conclusion &amp; Future Scope</a:t>
            </a:r>
            <a:endParaRPr lang="en-US" sz="3350" dirty="0"/>
          </a:p>
        </p:txBody>
      </p:sp>
      <p:sp>
        <p:nvSpPr>
          <p:cNvPr id="5" name="Shape 2"/>
          <p:cNvSpPr/>
          <p:nvPr/>
        </p:nvSpPr>
        <p:spPr>
          <a:xfrm>
            <a:off x="5233360" y="1475383"/>
            <a:ext cx="1155671" cy="260152"/>
          </a:xfrm>
          <a:prstGeom prst="roundRect">
            <a:avLst>
              <a:gd name="adj" fmla="val 7901"/>
            </a:avLst>
          </a:prstGeom>
          <a:solidFill>
            <a:srgbClr val="00184D"/>
          </a:solidFill>
          <a:ln/>
        </p:spPr>
      </p:sp>
      <p:sp>
        <p:nvSpPr>
          <p:cNvPr id="6" name="Text 3"/>
          <p:cNvSpPr/>
          <p:nvPr/>
        </p:nvSpPr>
        <p:spPr>
          <a:xfrm>
            <a:off x="5336049" y="1526679"/>
            <a:ext cx="1559878" cy="157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TAKEAWAY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490231" y="2049859"/>
            <a:ext cx="2682609" cy="1567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Successfully </a:t>
            </a:r>
            <a:r>
              <a:rPr lang="en-US" sz="13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modeled, simulated, and verified</a:t>
            </a: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in Logisim using core DDCA principles — proving combinational logic can drive real-world energy efficiency.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233360" y="1910159"/>
            <a:ext cx="19050" cy="1846858"/>
          </a:xfrm>
          <a:prstGeom prst="roundRect">
            <a:avLst>
              <a:gd name="adj" fmla="val 49999"/>
            </a:avLst>
          </a:prstGeom>
          <a:solidFill>
            <a:srgbClr val="97B8FF"/>
          </a:solidFill>
          <a:ln/>
        </p:spPr>
      </p:sp>
      <p:sp>
        <p:nvSpPr>
          <p:cNvPr id="9" name="Shape 6"/>
          <p:cNvSpPr/>
          <p:nvPr/>
        </p:nvSpPr>
        <p:spPr>
          <a:xfrm>
            <a:off x="8597090" y="1475383"/>
            <a:ext cx="1842347" cy="260152"/>
          </a:xfrm>
          <a:prstGeom prst="roundRect">
            <a:avLst>
              <a:gd name="adj" fmla="val 7901"/>
            </a:avLst>
          </a:prstGeom>
          <a:noFill/>
          <a:ln w="6350">
            <a:solidFill>
              <a:srgbClr val="97B8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99778" y="1526679"/>
            <a:ext cx="2246554" cy="157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97B8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FUTURE ENHANCEMENTS</a:t>
            </a:r>
            <a:endParaRPr lang="en-US" sz="10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97090" y="1910159"/>
            <a:ext cx="428217" cy="4282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219275" y="1910159"/>
            <a:ext cx="2317295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IoT Integration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9219275" y="2332930"/>
            <a:ext cx="2317295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ESP32 microcontroller for wireless monitoring &amp; remote control</a:t>
            </a:r>
            <a:endParaRPr lang="en-US" sz="13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97090" y="3427115"/>
            <a:ext cx="428217" cy="42822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219275" y="3427115"/>
            <a:ext cx="2317295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Adaptive Dimming</a:t>
            </a:r>
            <a:endParaRPr lang="en-US" sz="1650" dirty="0"/>
          </a:p>
        </p:txBody>
      </p:sp>
      <p:sp>
        <p:nvSpPr>
          <p:cNvPr id="16" name="Text 11"/>
          <p:cNvSpPr/>
          <p:nvPr/>
        </p:nvSpPr>
        <p:spPr>
          <a:xfrm>
            <a:off x="9219275" y="3849886"/>
            <a:ext cx="2317295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Ambient weather &amp; fog condition sensing for dynamic brightness</a:t>
            </a:r>
            <a:endParaRPr lang="en-US" sz="13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97090" y="4944070"/>
            <a:ext cx="428217" cy="42822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219275" y="4944070"/>
            <a:ext cx="2317295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Traffic Analytics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9219275" y="5366841"/>
            <a:ext cx="2317295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Density-based dynamic brightness adjustment using AI</a:t>
            </a:r>
            <a:endParaRPr lang="en-US" sz="13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C2811C6-669A-2343-BE04-4D2A9A17B85F}"/>
              </a:ext>
            </a:extLst>
          </p:cNvPr>
          <p:cNvSpPr/>
          <p:nvPr/>
        </p:nvSpPr>
        <p:spPr>
          <a:xfrm>
            <a:off x="10889358" y="6352947"/>
            <a:ext cx="1281723" cy="42593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483</Words>
  <Application>Microsoft Office PowerPoint</Application>
  <PresentationFormat>Widescreen</PresentationFormat>
  <Paragraphs>114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Noto Sans</vt:lpstr>
      <vt:lpstr>Arial</vt:lpstr>
      <vt:lpstr>Noto Sans Bold</vt:lpstr>
      <vt:lpstr>Sora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Faizan Shaik</dc:creator>
  <cp:lastModifiedBy>Faizan Shaik</cp:lastModifiedBy>
  <cp:revision>4</cp:revision>
  <dcterms:created xsi:type="dcterms:W3CDTF">2026-08-27T13:59:29Z</dcterms:created>
  <dcterms:modified xsi:type="dcterms:W3CDTF">2026-09-01T05:55:38Z</dcterms:modified>
</cp:coreProperties>
</file>